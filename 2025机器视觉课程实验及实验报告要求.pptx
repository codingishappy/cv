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82" r:id="rId4"/>
  </p:sldMasterIdLst>
  <p:notesMasterIdLst>
    <p:notesMasterId r:id="rId12"/>
  </p:notesMasterIdLst>
  <p:sldIdLst>
    <p:sldId id="1290" r:id="rId5"/>
    <p:sldId id="1289" r:id="rId6"/>
    <p:sldId id="1284" r:id="rId7"/>
    <p:sldId id="1287" r:id="rId8"/>
    <p:sldId id="1291" r:id="rId9"/>
    <p:sldId id="1288" r:id="rId10"/>
    <p:sldId id="128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C91FCF8-1890-45F9-9274-7084C576264F}">
          <p14:sldIdLst>
            <p14:sldId id="1290"/>
            <p14:sldId id="1289"/>
            <p14:sldId id="1284"/>
            <p14:sldId id="1287"/>
            <p14:sldId id="1291"/>
            <p14:sldId id="1288"/>
            <p14:sldId id="1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247" userDrawn="1">
          <p15:clr>
            <a:srgbClr val="A4A3A4"/>
          </p15:clr>
        </p15:guide>
        <p15:guide id="2" pos="74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58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4" autoAdjust="0"/>
    <p:restoredTop sz="95495" autoAdjust="0"/>
  </p:normalViewPr>
  <p:slideViewPr>
    <p:cSldViewPr snapToGrid="0" showGuides="1">
      <p:cViewPr varScale="1">
        <p:scale>
          <a:sx n="105" d="100"/>
          <a:sy n="105" d="100"/>
        </p:scale>
        <p:origin x="576" y="114"/>
      </p:cViewPr>
      <p:guideLst>
        <p:guide orient="horz" pos="4247"/>
        <p:guide pos="74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D0911-C4A7-4552-A636-24CF74AF68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F55D8-9A4C-4100-8747-102C9A10F7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1">
            <a:alpha val="3098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 userDrawn="1"/>
        </p:nvSpPr>
        <p:spPr>
          <a:xfrm>
            <a:off x="719666" y="6450013"/>
            <a:ext cx="5952067" cy="3111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6688" y="116632"/>
            <a:ext cx="1821530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15415" y="1124744"/>
            <a:ext cx="10657183" cy="1440160"/>
          </a:xfrm>
        </p:spPr>
        <p:txBody>
          <a:bodyPr anchor="b"/>
          <a:lstStyle>
            <a:lvl1pPr algn="ctr">
              <a:defRPr sz="3400" cap="none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73605" y="3573016"/>
            <a:ext cx="8940800" cy="1512168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 baseline="0"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0" y="91440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Slide Number Placeholder 22"/>
          <p:cNvSpPr txBox="1"/>
          <p:nvPr userDrawn="1"/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Tw Cen MT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3990C5-A130-4402-9DB1-275671C4A9B0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36864" cy="612648"/>
          </a:xfrm>
        </p:spPr>
        <p:txBody>
          <a:bodyPr/>
          <a:lstStyle>
            <a:lvl1pPr>
              <a:defRPr sz="3200" b="1" baseline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239349" y="1268760"/>
            <a:ext cx="11521280" cy="4968552"/>
          </a:xfrm>
        </p:spPr>
        <p:txBody>
          <a:bodyPr/>
          <a:lstStyle>
            <a:lvl1pPr marL="319405" indent="-319405">
              <a:buFont typeface="Wingdings" panose="05000000000000000000" pitchFamily="2" charset="2"/>
              <a:buChar char="n"/>
              <a:defRPr sz="32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40080" indent="-273050">
              <a:buClr>
                <a:schemeClr val="accent2"/>
              </a:buClr>
              <a:buFont typeface="Wingdings" panose="05000000000000000000" pitchFamily="2" charset="2"/>
              <a:buChar char="Ø"/>
              <a:defRPr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3pPr>
            <a:lvl4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4pPr>
            <a:lvl5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10"/>
          <p:cNvSpPr/>
          <p:nvPr userDrawn="1"/>
        </p:nvSpPr>
        <p:spPr>
          <a:xfrm>
            <a:off x="0" y="91440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Slide Number Placeholder 22"/>
          <p:cNvSpPr txBox="1"/>
          <p:nvPr userDrawn="1"/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Tw Cen MT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73EDBEF-BB9B-4FDF-9B40-BE0642952BED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Slide Number Placeholder 12"/>
          <p:cNvSpPr>
            <a:spLocks noGrp="1"/>
          </p:cNvSpPr>
          <p:nvPr>
            <p:ph type="sldNum" sz="quarter" idx="10"/>
          </p:nvPr>
        </p:nvSpPr>
        <p:spPr>
          <a:xfrm>
            <a:off x="0" y="1752601"/>
            <a:ext cx="1727200" cy="701675"/>
          </a:xfrm>
          <a:prstGeom prst="rect">
            <a:avLst/>
          </a:prstGeom>
        </p:spPr>
        <p:txBody>
          <a:bodyPr>
            <a:noAutofit/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E200DE8-E4F7-495A-B070-6DE81204F001}" type="slidenum">
              <a:rPr lang="zh-CN" altLang="en-US" smtClean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Rectangle 13"/>
          <p:cNvSpPr/>
          <p:nvPr userDrawn="1"/>
        </p:nvSpPr>
        <p:spPr>
          <a:xfrm>
            <a:off x="8467" y="915988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Slide Number Placeholder 9"/>
          <p:cNvSpPr txBox="1"/>
          <p:nvPr userDrawn="1"/>
        </p:nvSpPr>
        <p:spPr>
          <a:xfrm>
            <a:off x="8467" y="90805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rgbClr val="FFFFFF"/>
                </a:solidFill>
                <a:latin typeface="Tw Cen MT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CB037D-E1D6-4793-B17B-33D5894D583F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38B3BE9-A2EF-4FEE-8BA7-288B6F297F7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/>
                <a:ea typeface="+mn-ea"/>
              </a:defRPr>
            </a:lvl1pPr>
          </a:lstStyle>
          <a:p>
            <a:pPr>
              <a:defRPr/>
            </a:pPr>
            <a:fld id="{7BC30029-9058-4FD4-A222-AC3863DC216E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27CE2CC-513C-403C-8E21-48F63532F20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B6E82EC5-08BA-49F9-9E6E-6D82CFED641E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/>
                <a:ea typeface="+mn-ea"/>
              </a:defRPr>
            </a:lvl1pPr>
          </a:lstStyle>
          <a:p>
            <a:pPr>
              <a:defRPr/>
            </a:pPr>
            <a:fld id="{B3CF26E2-D51C-4C7A-A78B-8DEC64E2690C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2801" y="6248401"/>
            <a:ext cx="7228417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/>
                <a:ea typeface="+mn-ea"/>
              </a:defRPr>
            </a:lvl1pPr>
          </a:lstStyle>
          <a:p>
            <a:pPr>
              <a:defRPr/>
            </a:pPr>
            <a:r>
              <a:rPr lang="zh-CN" altLang="en-US">
                <a:solidFill>
                  <a:prstClr val="black"/>
                </a:solidFill>
              </a:rPr>
              <a:t> 情境感知的信息推荐方法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089EAC3-5AC7-4B69-B892-7D4B7EAD0053}" type="slidenum">
              <a:rPr lang="zh-CN" altLang="en-US" smtClean="0">
                <a:solidFill>
                  <a:srgbClr val="775F55"/>
                </a:solidFill>
              </a:rPr>
            </a:fld>
            <a:endParaRPr lang="en-US" altLang="zh-CN">
              <a:solidFill>
                <a:srgbClr val="775F55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90B663D-04B8-4C14-B51D-633F0857D19A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1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699" y="4664075"/>
            <a:ext cx="1951567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930401" y="1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Slide Number Placeholder 12"/>
          <p:cNvSpPr>
            <a:spLocks noGrp="1"/>
          </p:cNvSpPr>
          <p:nvPr>
            <p:ph type="sldNum" sz="quarter" idx="10"/>
          </p:nvPr>
        </p:nvSpPr>
        <p:spPr>
          <a:xfrm>
            <a:off x="0" y="4667251"/>
            <a:ext cx="1930400" cy="6635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CDC3390-C21B-4241-825A-F60EB3D7362A}" type="slidenum">
              <a:rPr lang="zh-CN" altLang="en-US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54C9AD6-0D67-455E-A4D9-6A9C21E17F07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1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>
          <a:xfrm rot="5400000">
            <a:off x="8075084" y="103717"/>
            <a:ext cx="533400" cy="32596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56978E6-75E6-48AE-BCBF-80526548051E}" type="slidenum">
              <a:rPr lang="zh-CN" altLang="en-US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9B60C33-563D-4026-883F-7939630F028B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14955AC-F55D-4EF9-A0E8-CEB26157A64F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876326C9-F290-4A5D-B51E-9BEA18CC2D15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prstClr val="black"/>
                </a:solidFill>
              </a:rPr>
              <a:t>click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75F148C-ABE4-4AA3-A56D-943E43B2721D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A2D9EB6-027E-4FA4-8949-B0E595530940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181EE71-9DCE-4B9B-AD1A-BD288EF9D109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D1574E5-4047-44DF-A822-CAF77FCF252B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B55D58D-1C0E-4288-85A2-7C802EED5962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CA28FA9A-BE72-4ABD-9DC1-C7B520EA4138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80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D694A8F-AED9-40BC-B643-8F35AAB265D6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2CA83C8-4750-41DC-9D23-B7A15298B72F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68FB3A1-0DCE-486C-B242-E54861D38F63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F8F5A7D-A913-4365-B0C4-F4D002EF1598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08000" y="1295400"/>
            <a:ext cx="11176000" cy="5105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5C19FFA-D9BE-4D43-A549-2D05C781EA00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>
                <a:solidFill>
                  <a:prstClr val="black"/>
                </a:solidFill>
              </a:rPr>
              <a:t> 情境感知的信息推荐方法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6AD22B6-D973-4277-9A05-6981672BD26B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1">
            <a:alpha val="3098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 userDrawn="1"/>
        </p:nvSpPr>
        <p:spPr>
          <a:xfrm>
            <a:off x="719666" y="6450013"/>
            <a:ext cx="5952067" cy="3111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805" y="116840"/>
            <a:ext cx="1250315" cy="1106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15415" y="1124744"/>
            <a:ext cx="10657183" cy="1440160"/>
          </a:xfrm>
        </p:spPr>
        <p:txBody>
          <a:bodyPr anchor="b"/>
          <a:lstStyle>
            <a:lvl1pPr algn="ctr">
              <a:defRPr sz="3400" cap="none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73605" y="3573016"/>
            <a:ext cx="8940800" cy="1512168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 baseline="0"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 userDrawn="1"/>
        </p:nvSpPr>
        <p:spPr>
          <a:xfrm>
            <a:off x="0" y="91440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Slide Number Placeholder 22"/>
          <p:cNvSpPr txBox="1"/>
          <p:nvPr userDrawn="1"/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Tw Cen MT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3990C5-A130-4402-9DB1-275671C4A9B0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436864" cy="612648"/>
          </a:xfrm>
        </p:spPr>
        <p:txBody>
          <a:bodyPr/>
          <a:lstStyle>
            <a:lvl1pPr>
              <a:defRPr sz="3200" b="1" baseline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239349" y="1268760"/>
            <a:ext cx="11521280" cy="4968552"/>
          </a:xfrm>
        </p:spPr>
        <p:txBody>
          <a:bodyPr/>
          <a:lstStyle>
            <a:lvl1pPr>
              <a:defRPr sz="32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2pPr>
            <a:lvl3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3pPr>
            <a:lvl4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4pPr>
            <a:lvl5pPr>
              <a:defRPr baseline="0">
                <a:latin typeface="Palatino Linotype" panose="02040502050505030304" pitchFamily="18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10"/>
          <p:cNvSpPr/>
          <p:nvPr userDrawn="1"/>
        </p:nvSpPr>
        <p:spPr>
          <a:xfrm>
            <a:off x="0" y="91440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Slide Number Placeholder 22"/>
          <p:cNvSpPr txBox="1"/>
          <p:nvPr userDrawn="1"/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Tw Cen MT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73EDBEF-BB9B-4FDF-9B40-BE0642952BED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1" name="Slide Number Placeholder 12"/>
          <p:cNvSpPr>
            <a:spLocks noGrp="1"/>
          </p:cNvSpPr>
          <p:nvPr>
            <p:ph type="sldNum" sz="quarter" idx="10"/>
          </p:nvPr>
        </p:nvSpPr>
        <p:spPr>
          <a:xfrm>
            <a:off x="0" y="1752601"/>
            <a:ext cx="1727200" cy="701675"/>
          </a:xfrm>
          <a:prstGeom prst="rect">
            <a:avLst/>
          </a:prstGeom>
        </p:spPr>
        <p:txBody>
          <a:bodyPr>
            <a:noAutofit/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E200DE8-E4F7-495A-B070-6DE81204F001}" type="slidenum">
              <a:rPr lang="zh-CN" altLang="en-US" smtClean="0"/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Rectangle 13"/>
          <p:cNvSpPr/>
          <p:nvPr userDrawn="1"/>
        </p:nvSpPr>
        <p:spPr>
          <a:xfrm>
            <a:off x="8467" y="915988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Slide Number Placeholder 9"/>
          <p:cNvSpPr txBox="1"/>
          <p:nvPr userDrawn="1"/>
        </p:nvSpPr>
        <p:spPr>
          <a:xfrm>
            <a:off x="8467" y="908051"/>
            <a:ext cx="711200" cy="244475"/>
          </a:xfrm>
          <a:prstGeom prst="rect">
            <a:avLst/>
          </a:prstGeom>
        </p:spPr>
        <p:txBody>
          <a:bodyPr anchor="ctr">
            <a:normAutofit fontScale="85000" lnSpcReduction="20000"/>
          </a:bodyPr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rgbClr val="FFFFFF"/>
                </a:solidFill>
                <a:latin typeface="Tw Cen MT"/>
                <a:ea typeface="宋体" panose="02010600030101010101" pitchFamily="2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CB037D-E1D6-4793-B17B-33D5894D583F}" type="slidenum">
              <a:rPr kumimoji="0" lang="zh-CN" alt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w Cen MT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38B3BE9-A2EF-4FEE-8BA7-288B6F297F7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/>
                <a:ea typeface="+mn-ea"/>
              </a:defRPr>
            </a:lvl1pPr>
          </a:lstStyle>
          <a:p>
            <a:pPr>
              <a:defRPr/>
            </a:pPr>
            <a:fld id="{7BC30029-9058-4FD4-A222-AC3863DC216E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27CE2CC-513C-403C-8E21-48F63532F20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B6E82EC5-08BA-49F9-9E6E-6D82CFED641E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/>
                <a:ea typeface="+mn-ea"/>
              </a:defRPr>
            </a:lvl1pPr>
          </a:lstStyle>
          <a:p>
            <a:pPr>
              <a:defRPr/>
            </a:pPr>
            <a:fld id="{B3CF26E2-D51C-4C7A-A78B-8DEC64E2690C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12801" y="6248401"/>
            <a:ext cx="7228417" cy="365125"/>
          </a:xfrm>
          <a:prstGeom prst="rect">
            <a:avLst/>
          </a:prstGeom>
        </p:spPr>
        <p:txBody>
          <a:bodyPr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Tw Cen MT"/>
                <a:ea typeface="+mn-ea"/>
              </a:defRPr>
            </a:lvl1pPr>
          </a:lstStyle>
          <a:p>
            <a:pPr>
              <a:defRPr/>
            </a:pPr>
            <a:r>
              <a:rPr lang="zh-CN" altLang="en-US">
                <a:solidFill>
                  <a:prstClr val="black"/>
                </a:solidFill>
              </a:rPr>
              <a:t> 情境感知的信息推荐方法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089EAC3-5AC7-4B69-B892-7D4B7EAD0053}" type="slidenum">
              <a:rPr lang="zh-CN" altLang="en-US" smtClean="0">
                <a:solidFill>
                  <a:srgbClr val="775F55"/>
                </a:solidFill>
              </a:rPr>
            </a:fld>
            <a:endParaRPr lang="en-US" altLang="zh-CN">
              <a:solidFill>
                <a:srgbClr val="775F55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90B663D-04B8-4C14-B51D-633F0857D19A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1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699" y="4664075"/>
            <a:ext cx="1951567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930401" y="1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Slide Number Placeholder 12"/>
          <p:cNvSpPr>
            <a:spLocks noGrp="1"/>
          </p:cNvSpPr>
          <p:nvPr>
            <p:ph type="sldNum" sz="quarter" idx="10"/>
          </p:nvPr>
        </p:nvSpPr>
        <p:spPr>
          <a:xfrm>
            <a:off x="0" y="4667251"/>
            <a:ext cx="1930400" cy="6635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2800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CDC3390-C21B-4241-825A-F60EB3D7362A}" type="slidenum">
              <a:rPr lang="zh-CN" altLang="en-US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Hefei University of Technology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54C9AD6-0D67-455E-A4D9-6A9C21E17F07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1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>
          <a:xfrm rot="5400000">
            <a:off x="8075084" y="103717"/>
            <a:ext cx="533400" cy="325967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B56978E6-75E6-48AE-BCBF-80526548051E}" type="slidenum">
              <a:rPr lang="zh-CN" altLang="en-US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9B60C33-563D-4026-883F-7939630F028B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14955AC-F55D-4EF9-A0E8-CEB26157A64F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876326C9-F290-4A5D-B51E-9BEA18CC2D15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dirty="0">
                <a:solidFill>
                  <a:prstClr val="black"/>
                </a:solidFill>
              </a:rPr>
              <a:t>click</a:t>
            </a:r>
            <a:endParaRPr lang="en-US" altLang="zh-CN" dirty="0">
              <a:solidFill>
                <a:prstClr val="black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75F148C-ABE4-4AA3-A56D-943E43B2721D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4864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A2D9EB6-027E-4FA4-8949-B0E595530940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181EE71-9DCE-4B9B-AD1A-BD288EF9D109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2954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D1574E5-4047-44DF-A822-CAF77FCF252B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B55D58D-1C0E-4288-85A2-7C802EED5962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CA28FA9A-BE72-4ABD-9DC1-C7B520EA4138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80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80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243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D694A8F-AED9-40BC-B643-8F35AAB265D6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prstClr val="black"/>
                </a:solidFill>
              </a:rPr>
              <a:t>基于用户兴趣建模的推荐方法及应用研究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2CA83C8-4750-41DC-9D23-B7A15298B72F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11176000" cy="2476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3924300"/>
            <a:ext cx="111760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D68FB3A1-0DCE-486C-B242-E54861D38F63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 userDrawn="1"/>
        </p:nvSpPr>
        <p:spPr>
          <a:xfrm>
            <a:off x="-12699" y="6453189"/>
            <a:ext cx="6684433" cy="31273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Lab of Media Computing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5"/>
          <p:cNvSpPr/>
          <p:nvPr userDrawn="1"/>
        </p:nvSpPr>
        <p:spPr>
          <a:xfrm>
            <a:off x="6671733" y="6453188"/>
            <a:ext cx="5520267" cy="304800"/>
          </a:xfrm>
          <a:prstGeom prst="rect">
            <a:avLst/>
          </a:prstGeom>
          <a:solidFill>
            <a:srgbClr val="D5D1D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0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4F8F5A7D-A913-4365-B0C4-F4D002EF1598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685" y="228600"/>
            <a:ext cx="8434916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08000" y="1295400"/>
            <a:ext cx="11176000" cy="5105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>
          <a:xfrm>
            <a:off x="8128000" y="6400801"/>
            <a:ext cx="3556000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5C19FFA-D9BE-4D43-A549-2D05C781EA00}" type="datetime1">
              <a:rPr lang="en-US" altLang="zh-CN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8001" y="6400801"/>
            <a:ext cx="7228417" cy="2127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>
                <a:solidFill>
                  <a:prstClr val="black"/>
                </a:solidFill>
              </a:rPr>
              <a:t> 情境感知的信息推荐方法</a:t>
            </a:r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>
          <a:xfrm>
            <a:off x="0" y="914401"/>
            <a:ext cx="711200" cy="24447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6AD22B6-D973-4277-9A05-6981672BD26B}" type="slidenum">
              <a:rPr lang="zh-CN" altLang="en-US" smtClean="0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image" Target="../media/image2.png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3" Type="http://schemas.openxmlformats.org/officeDocument/2006/relationships/theme" Target="../theme/theme3.xml"/><Relationship Id="rId22" Type="http://schemas.openxmlformats.org/officeDocument/2006/relationships/image" Target="../media/image5.png"/><Relationship Id="rId21" Type="http://schemas.openxmlformats.org/officeDocument/2006/relationships/slideLayout" Target="../slideLayouts/slideLayout53.xml"/><Relationship Id="rId20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97BF7-6D16-4B82-9F85-527751C675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EE4D7-6EF0-4E68-9082-4FD226909B4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302685" y="228600"/>
            <a:ext cx="843491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08000" y="1295400"/>
            <a:ext cx="11176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9" name="Rectangle 8"/>
          <p:cNvSpPr/>
          <p:nvPr/>
        </p:nvSpPr>
        <p:spPr>
          <a:xfrm>
            <a:off x="787400" y="914400"/>
            <a:ext cx="11404600" cy="228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29" name="Picture 9"/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2976" y="0"/>
            <a:ext cx="1169024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Palatino Linotype" panose="02040502050505030304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9pPr>
    </p:titleStyle>
    <p:bodyStyle>
      <a:lvl1pPr marL="319405" indent="-319405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40080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o"/>
        <a:defRPr sz="2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16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302685" y="228600"/>
            <a:ext cx="843491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/>
              <a:t>Click to edit Master title style</a:t>
            </a:r>
            <a:endParaRPr lang="en-US" altLang="zh-CN"/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08000" y="1295400"/>
            <a:ext cx="11176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9" name="Rectangle 8"/>
          <p:cNvSpPr/>
          <p:nvPr/>
        </p:nvSpPr>
        <p:spPr>
          <a:xfrm>
            <a:off x="787400" y="914400"/>
            <a:ext cx="11404600" cy="228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29" name="Picture 9"/>
          <p:cNvPicPr>
            <a:picLocks noChangeAspect="1" noChangeArrowheads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0" y="0"/>
            <a:ext cx="102806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Palatino Linotype" panose="02040502050505030304" pitchFamily="18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Palatino Linotype" panose="02040502050505030304" pitchFamily="18" charset="0"/>
          <a:ea typeface="华文仿宋" panose="0201060004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/>
        </a:defRPr>
      </a:lvl9pPr>
    </p:titleStyle>
    <p:bodyStyle>
      <a:lvl1pPr marL="319405" indent="-319405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40080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o"/>
        <a:defRPr sz="22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16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89EAC3-5AC7-4B69-B892-7D4B7EAD0053}" type="slidenum">
              <a:rPr lang="zh-CN" altLang="en-US" smtClean="0">
                <a:solidFill>
                  <a:srgbClr val="775F55"/>
                </a:solidFill>
              </a:rPr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2000250" y="1637538"/>
            <a:ext cx="8436864" cy="61264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Palatino Linotype" panose="02040502050505030304" pitchFamily="18" charset="0"/>
                <a:ea typeface="华文仿宋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Palatino Linotype" panose="02040502050505030304" pitchFamily="18" charset="0"/>
                <a:ea typeface="华文仿宋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Palatino Linotype" panose="02040502050505030304" pitchFamily="18" charset="0"/>
                <a:ea typeface="华文仿宋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Palatino Linotype" panose="02040502050505030304" pitchFamily="18" charset="0"/>
                <a:ea typeface="华文仿宋" panose="020106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9pPr>
          </a:lstStyle>
          <a:p>
            <a:pPr algn="ctr"/>
            <a:r>
              <a:rPr lang="en-US" altLang="zh-CN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年智能科学与技术</a:t>
            </a:r>
            <a:endParaRPr lang="en-US" altLang="zh-CN" sz="4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机器视觉课程</a:t>
            </a:r>
            <a:endParaRPr lang="en-US" altLang="zh-CN" sz="4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实验安排</a:t>
            </a:r>
            <a:endParaRPr lang="en-US" altLang="zh-CN" sz="4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直接连接符 2059"/>
          <p:cNvSpPr/>
          <p:nvPr/>
        </p:nvSpPr>
        <p:spPr>
          <a:xfrm>
            <a:off x="4707498" y="4121195"/>
            <a:ext cx="6750000" cy="0"/>
          </a:xfrm>
          <a:prstGeom prst="line">
            <a:avLst/>
          </a:prstGeom>
          <a:ln w="25400" cap="flat" cmpd="sng">
            <a:solidFill>
              <a:srgbClr val="F7581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0021" y="904775"/>
            <a:ext cx="5986914" cy="231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直接连接符 2059"/>
          <p:cNvSpPr/>
          <p:nvPr/>
        </p:nvSpPr>
        <p:spPr>
          <a:xfrm>
            <a:off x="4717123" y="4273595"/>
            <a:ext cx="6750000" cy="0"/>
          </a:xfrm>
          <a:prstGeom prst="line">
            <a:avLst/>
          </a:prstGeom>
          <a:ln w="25400" cap="flat" cmpd="sng">
            <a:solidFill>
              <a:srgbClr val="F7581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867144" y="4614732"/>
            <a:ext cx="4773168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实验指导教师：吴晶晶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联系方式：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15212788224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邮箱：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2022800098@hfut.edu.cn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时间：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课程实验一：图像滤波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实验内容：使用</a:t>
                </a:r>
                <a:r>
                  <a:rPr lang="en-US" altLang="zh-CN" sz="2400" dirty="0"/>
                  <a:t>Sobel</a:t>
                </a:r>
                <a:r>
                  <a:rPr lang="zh-CN" altLang="en-US" sz="2400" dirty="0"/>
                  <a:t>算子、给定卷积核滤波自己拍摄的图像，并提取图像的颜色直方图和纹理特征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其中，给定卷积核：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  <m:m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mr>
                      <m:m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mr>
                    </m:m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实验课时：</a:t>
                </a:r>
                <a:r>
                  <a:rPr lang="en-US" altLang="zh-CN" sz="2400" dirty="0"/>
                  <a:t>2</a:t>
                </a:r>
                <a:endParaRPr lang="en-US" altLang="zh-CN" sz="2400" dirty="0"/>
              </a:p>
              <a:p>
                <a:r>
                  <a:rPr lang="zh-CN" altLang="en-US" sz="2400" dirty="0"/>
                  <a:t>分值：</a:t>
                </a:r>
                <a:r>
                  <a:rPr lang="en-US" altLang="zh-CN" sz="2400" dirty="0"/>
                  <a:t>20</a:t>
                </a:r>
                <a:r>
                  <a:rPr lang="zh-CN" altLang="en-US" sz="2400" dirty="0"/>
                  <a:t>分</a:t>
                </a:r>
                <a:endParaRPr lang="en-US" altLang="zh-CN" sz="2400" dirty="0"/>
              </a:p>
              <a:p>
                <a:r>
                  <a:rPr lang="zh-CN" altLang="en-US" sz="2400" dirty="0"/>
                  <a:t>具体要求：</a:t>
                </a:r>
                <a:endParaRPr lang="zh-CN" altLang="en-US" sz="2400" dirty="0"/>
              </a:p>
              <a:p>
                <a:pPr lvl="1"/>
                <a:r>
                  <a:rPr lang="zh-CN" altLang="en-US" sz="1800" dirty="0"/>
                  <a:t>任务输入：自己拍摄的图像。</a:t>
                </a:r>
                <a:endParaRPr lang="zh-CN" altLang="en-US" sz="1800" dirty="0"/>
              </a:p>
              <a:p>
                <a:pPr lvl="1"/>
                <a:r>
                  <a:rPr lang="zh-CN" altLang="en-US" sz="1800" dirty="0"/>
                  <a:t>任务输出：经过</a:t>
                </a:r>
                <a:r>
                  <a:rPr lang="en-US" altLang="zh-CN" sz="1800" dirty="0"/>
                  <a:t>Sobel</a:t>
                </a:r>
                <a:r>
                  <a:rPr lang="zh-CN" altLang="en-US" sz="1800" dirty="0"/>
                  <a:t>算子滤波的图像，经过给定卷积核滤波的图像，可视化图像的颜色直方图，保存纹理特征至</a:t>
                </a:r>
                <a:r>
                  <a:rPr lang="en-US" altLang="zh-CN" sz="1800" dirty="0" err="1"/>
                  <a:t>npy</a:t>
                </a:r>
                <a:r>
                  <a:rPr lang="zh-CN" altLang="en-US" sz="1800" dirty="0"/>
                  <a:t>格式。</a:t>
                </a:r>
                <a:endParaRPr lang="en-US" altLang="zh-CN" sz="1800" dirty="0"/>
              </a:p>
              <a:p>
                <a:pPr lvl="1"/>
                <a:r>
                  <a:rPr lang="zh-CN" altLang="en-US" sz="1800" dirty="0">
                    <a:solidFill>
                      <a:srgbClr val="FF0000"/>
                    </a:solidFill>
                  </a:rPr>
                  <a:t>滤波、直方图计算、纹理特征提取过程不可以调用函数包。</a:t>
                </a:r>
                <a:endParaRPr lang="zh-CN" altLang="en-US" sz="1800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zh-CN" altLang="en-US" sz="1800" dirty="0"/>
                  <a:t>代码语言不限，纹理特征提取方法不限，要求提交整个算法源代码，实验结果（算法输入图片、输出图片、直方图，纹理结果），算法分析等内容。</a:t>
                </a:r>
                <a:endParaRPr lang="en-US" altLang="zh-CN" sz="1800" dirty="0"/>
              </a:p>
              <a:p>
                <a:pPr marL="367030" lvl="1" indent="0">
                  <a:buNone/>
                </a:pPr>
                <a:endParaRPr lang="en-US" altLang="zh-CN" sz="1800" dirty="0"/>
              </a:p>
              <a:p>
                <a:pPr marL="367030" lvl="1" indent="0">
                  <a:buNone/>
                </a:pPr>
                <a:endParaRPr lang="zh-CN" altLang="en-US" sz="1800" dirty="0"/>
              </a:p>
              <a:p>
                <a:pPr marL="367030" lvl="1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1"/>
                <a:stretch>
                  <a:fillRect l="-5" t="-1" r="4" b="-249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课程实验二：车道线检测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0655" y="1146840"/>
            <a:ext cx="11271719" cy="5589240"/>
          </a:xfrm>
        </p:spPr>
        <p:txBody>
          <a:bodyPr/>
          <a:lstStyle/>
          <a:p>
            <a:r>
              <a:rPr lang="zh-CN" altLang="en-US" sz="2400" dirty="0"/>
              <a:t>实验内容：车道线检测是自动驾驶的基本模块。请使用霍夫变换实现车道线的检测。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实验课时：</a:t>
            </a:r>
            <a:r>
              <a:rPr lang="en-US" altLang="zh-CN" sz="2400" dirty="0"/>
              <a:t>3</a:t>
            </a:r>
            <a:endParaRPr lang="en-US" altLang="zh-CN" sz="2400" dirty="0"/>
          </a:p>
          <a:p>
            <a:r>
              <a:rPr lang="zh-CN" altLang="en-US" sz="2400" dirty="0"/>
              <a:t>分值：</a:t>
            </a:r>
            <a:r>
              <a:rPr lang="en-US" altLang="zh-CN" sz="2400" dirty="0"/>
              <a:t>20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具体要求：</a:t>
            </a:r>
            <a:endParaRPr lang="zh-CN" altLang="en-US" sz="2400" dirty="0"/>
          </a:p>
          <a:p>
            <a:pPr lvl="1"/>
            <a:r>
              <a:rPr lang="zh-CN" altLang="en-US" sz="1800" dirty="0"/>
              <a:t>任务输入：自己拍摄的校园中道路图像（画有车道线的路）。</a:t>
            </a:r>
            <a:endParaRPr lang="en-US" altLang="zh-CN" sz="1800" dirty="0"/>
          </a:p>
          <a:p>
            <a:pPr lvl="1"/>
            <a:r>
              <a:rPr lang="zh-CN" altLang="en-US" sz="1800" dirty="0"/>
              <a:t>任务输出：图像中车道线的位置（如右图）。</a:t>
            </a:r>
            <a:endParaRPr lang="zh-CN" altLang="en-US" sz="1800" dirty="0"/>
          </a:p>
          <a:p>
            <a:pPr lvl="1"/>
            <a:r>
              <a:rPr lang="zh-CN" altLang="en-US" sz="1800" dirty="0"/>
              <a:t>代码语言不限，方法不限，要求提交整个算法源代码，模型结果，算法分析等内容。</a:t>
            </a:r>
            <a:endParaRPr lang="zh-CN" altLang="en-US" sz="1800" dirty="0"/>
          </a:p>
          <a:p>
            <a:pPr lvl="1"/>
            <a:endParaRPr lang="zh-CN" altLang="en-US" sz="1800" dirty="0"/>
          </a:p>
          <a:p>
            <a:endParaRPr lang="zh-CN" altLang="en-US" sz="2000" dirty="0"/>
          </a:p>
          <a:p>
            <a:pPr marL="367030" lvl="1" indent="0">
              <a:buNone/>
            </a:pPr>
            <a:endParaRPr lang="zh-CN" altLang="en-US" dirty="0"/>
          </a:p>
        </p:txBody>
      </p:sp>
      <p:pic>
        <p:nvPicPr>
          <p:cNvPr id="1026" name="Picture 2" descr="在这里插入图片描述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00"/>
          <a:stretch>
            <a:fillRect/>
          </a:stretch>
        </p:blipFill>
        <p:spPr bwMode="auto">
          <a:xfrm>
            <a:off x="7453311" y="2124075"/>
            <a:ext cx="421481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课程实验三：学号</a:t>
            </a:r>
            <a:r>
              <a:rPr lang="en-US" altLang="zh-CN" dirty="0" err="1"/>
              <a:t>识别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0656" y="1146840"/>
            <a:ext cx="11185994" cy="5589240"/>
          </a:xfrm>
        </p:spPr>
        <p:txBody>
          <a:bodyPr/>
          <a:lstStyle/>
          <a:p>
            <a:r>
              <a:rPr lang="zh-CN" altLang="en-US" sz="2400" dirty="0"/>
              <a:t>实验内容：手写数字的识别是机器视觉的入门级项目，是机器视觉的“</a:t>
            </a:r>
            <a:r>
              <a:rPr lang="en-US" altLang="zh-CN" sz="2400" dirty="0"/>
              <a:t>Hello word</a:t>
            </a:r>
            <a:r>
              <a:rPr lang="zh-CN" altLang="en-US" sz="2400" dirty="0"/>
              <a:t>”，其在实际场景中有广泛的应用场景。请设计手写数字识别方法识别自己的学号照片。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实验课时：</a:t>
            </a:r>
            <a:r>
              <a:rPr lang="en-US" altLang="zh-CN" sz="2400" dirty="0"/>
              <a:t>3</a:t>
            </a:r>
            <a:endParaRPr lang="en-US" altLang="zh-CN" sz="2400" dirty="0"/>
          </a:p>
          <a:p>
            <a:r>
              <a:rPr lang="zh-CN" altLang="en-US" sz="2400" dirty="0"/>
              <a:t>分值：</a:t>
            </a:r>
            <a:r>
              <a:rPr lang="en-US" altLang="zh-CN" sz="2400" dirty="0"/>
              <a:t>30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具体要求：</a:t>
            </a:r>
            <a:endParaRPr lang="zh-CN" altLang="en-US" sz="2400" dirty="0"/>
          </a:p>
          <a:p>
            <a:pPr lvl="1"/>
            <a:r>
              <a:rPr lang="zh-CN" altLang="en-US" sz="1800" dirty="0"/>
              <a:t>任务输入：学号照片。</a:t>
            </a:r>
            <a:endParaRPr lang="zh-CN" altLang="en-US" sz="1800" dirty="0"/>
          </a:p>
          <a:p>
            <a:pPr lvl="1"/>
            <a:r>
              <a:rPr lang="zh-CN" altLang="en-US" sz="1800" dirty="0"/>
              <a:t>任务输出：学号。</a:t>
            </a:r>
            <a:endParaRPr lang="zh-CN" altLang="en-US" sz="1800" dirty="0"/>
          </a:p>
          <a:p>
            <a:pPr lvl="1"/>
            <a:r>
              <a:rPr lang="zh-CN" altLang="en-US" sz="1800" dirty="0"/>
              <a:t>训练集：MNIST。</a:t>
            </a:r>
            <a:endParaRPr lang="en-US" altLang="zh-CN" sz="1800" dirty="0"/>
          </a:p>
          <a:p>
            <a:pPr lvl="1"/>
            <a:r>
              <a:rPr lang="zh-CN" altLang="en-US" sz="1800" dirty="0"/>
              <a:t>代码语言不限，方法不限，要求提交整个算法源代码，模型结果，算法分析等内容。</a:t>
            </a:r>
            <a:endParaRPr lang="en-US" altLang="zh-CN" sz="1800" dirty="0"/>
          </a:p>
          <a:p>
            <a:pPr lvl="1"/>
            <a:r>
              <a:rPr lang="zh-CN" altLang="en-US" sz="1800" dirty="0">
                <a:solidFill>
                  <a:srgbClr val="FF0000"/>
                </a:solidFill>
              </a:rPr>
              <a:t>加分项（</a:t>
            </a:r>
            <a:r>
              <a:rPr lang="en-US" altLang="zh-CN" sz="1800" dirty="0">
                <a:solidFill>
                  <a:srgbClr val="FF0000"/>
                </a:solidFill>
              </a:rPr>
              <a:t>5</a:t>
            </a:r>
            <a:r>
              <a:rPr lang="zh-CN" altLang="en-US" sz="1800" dirty="0">
                <a:solidFill>
                  <a:srgbClr val="FF0000"/>
                </a:solidFill>
              </a:rPr>
              <a:t>分）</a:t>
            </a:r>
            <a:r>
              <a:rPr lang="zh-CN" altLang="en-US" sz="1800" dirty="0"/>
              <a:t>：使用深度学习方法，代码环境名称以姓名缩写命名（例如吴晶晶的环境名：</a:t>
            </a:r>
            <a:r>
              <a:rPr lang="en-US" altLang="zh-CN" sz="1800" dirty="0"/>
              <a:t>wjj</a:t>
            </a:r>
            <a:r>
              <a:rPr lang="zh-CN" altLang="en-US" sz="1800" dirty="0"/>
              <a:t>），</a:t>
            </a:r>
            <a:r>
              <a:rPr lang="zh-CN" altLang="en-US" sz="1800" dirty="0">
                <a:solidFill>
                  <a:srgbClr val="FF0000"/>
                </a:solidFill>
              </a:rPr>
              <a:t>实验报告中介绍代码环境配置过程。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1"/>
            <a:endParaRPr lang="zh-CN" altLang="en-US" sz="1800" dirty="0"/>
          </a:p>
          <a:p>
            <a:endParaRPr lang="zh-CN" altLang="en-US" sz="2000" dirty="0"/>
          </a:p>
          <a:p>
            <a:pPr marL="36703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课程实验四：校园共享单车检测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0656" y="1146840"/>
            <a:ext cx="11185994" cy="5589240"/>
          </a:xfrm>
        </p:spPr>
        <p:txBody>
          <a:bodyPr/>
          <a:lstStyle/>
          <a:p>
            <a:r>
              <a:rPr lang="zh-CN" altLang="en-US" sz="2400" dirty="0"/>
              <a:t>实验内容：目标检测是机器视觉的核心应用方向之一，可实现</a:t>
            </a:r>
            <a:r>
              <a:rPr lang="en-US" altLang="zh-CN" sz="2400" dirty="0"/>
              <a:t> “</a:t>
            </a:r>
            <a:r>
              <a:rPr lang="zh-CN" altLang="en-US" sz="2400" dirty="0"/>
              <a:t>定位</a:t>
            </a:r>
            <a:r>
              <a:rPr lang="en-US" altLang="zh-CN" sz="2400" dirty="0"/>
              <a:t> + </a:t>
            </a:r>
            <a:r>
              <a:rPr lang="zh-CN" altLang="en-US" sz="2400" dirty="0"/>
              <a:t>识别</a:t>
            </a:r>
            <a:r>
              <a:rPr lang="en-US" altLang="zh-CN" sz="2400" dirty="0"/>
              <a:t>” </a:t>
            </a:r>
            <a:r>
              <a:rPr lang="zh-CN" altLang="en-US" sz="2400" dirty="0"/>
              <a:t>双重任务。本实验聚焦校园常见场景，要求学生设计目标检测方案，从校园道路、停车区图像中检测共享单车（如哈啰等品牌），理解目标检测的</a:t>
            </a:r>
            <a:r>
              <a:rPr lang="en-US" altLang="zh-CN" sz="2400" dirty="0"/>
              <a:t> “</a:t>
            </a:r>
            <a:r>
              <a:rPr lang="zh-CN" altLang="en-US" sz="2400" dirty="0"/>
              <a:t>特征提取</a:t>
            </a:r>
            <a:r>
              <a:rPr lang="en-US" altLang="zh-CN" sz="2400" dirty="0"/>
              <a:t> - </a:t>
            </a:r>
            <a:r>
              <a:rPr lang="zh-CN" altLang="en-US" sz="2400" dirty="0"/>
              <a:t>目标定位</a:t>
            </a:r>
            <a:r>
              <a:rPr lang="en-US" altLang="zh-CN" sz="2400" dirty="0"/>
              <a:t> - </a:t>
            </a:r>
            <a:r>
              <a:rPr lang="zh-CN" altLang="en-US" sz="2400" dirty="0"/>
              <a:t>分类判断</a:t>
            </a:r>
            <a:r>
              <a:rPr lang="en-US" altLang="zh-CN" sz="2400" dirty="0"/>
              <a:t>” </a:t>
            </a:r>
            <a:r>
              <a:rPr lang="zh-CN" altLang="en-US" sz="2400" dirty="0"/>
              <a:t>完整流程。</a:t>
            </a:r>
            <a:endParaRPr lang="zh-CN" altLang="en-US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实验课时：</a:t>
            </a:r>
            <a:r>
              <a:rPr lang="en-US" altLang="zh-CN" sz="2400" dirty="0"/>
              <a:t>4</a:t>
            </a:r>
            <a:endParaRPr lang="en-US" altLang="zh-CN" sz="2400" dirty="0"/>
          </a:p>
          <a:p>
            <a:r>
              <a:rPr lang="zh-CN" altLang="en-US" sz="2400" dirty="0"/>
              <a:t>分值：</a:t>
            </a:r>
            <a:r>
              <a:rPr lang="en-US" altLang="zh-CN" sz="2400" dirty="0"/>
              <a:t>30</a:t>
            </a:r>
            <a:r>
              <a:rPr lang="zh-CN" altLang="en-US" sz="2400" dirty="0"/>
              <a:t>分</a:t>
            </a:r>
            <a:endParaRPr lang="en-US" altLang="zh-CN" sz="2400" dirty="0"/>
          </a:p>
          <a:p>
            <a:r>
              <a:rPr lang="zh-CN" altLang="en-US" sz="2400" dirty="0"/>
              <a:t>具体要求：</a:t>
            </a:r>
            <a:endParaRPr lang="zh-CN" altLang="en-US" sz="2400" dirty="0"/>
          </a:p>
          <a:p>
            <a:pPr lvl="1"/>
            <a:r>
              <a:rPr lang="zh-CN" altLang="en-US" sz="1800" dirty="0"/>
              <a:t>任务输入：共享单车照片</a:t>
            </a:r>
            <a:endParaRPr lang="zh-CN" altLang="en-US" sz="1800" dirty="0"/>
          </a:p>
          <a:p>
            <a:pPr lvl="1"/>
            <a:r>
              <a:rPr lang="zh-CN" altLang="en-US" sz="1800" dirty="0"/>
              <a:t>任务输出：共享单车位置</a:t>
            </a:r>
            <a:endParaRPr lang="zh-CN" altLang="en-US" sz="1800" dirty="0"/>
          </a:p>
          <a:p>
            <a:pPr lvl="1"/>
            <a:r>
              <a:rPr lang="zh-CN" altLang="en-US" sz="1800" dirty="0"/>
              <a:t>训练集：</a:t>
            </a:r>
            <a:r>
              <a:rPr lang="en-US" altLang="zh-CN" sz="1800" dirty="0"/>
              <a:t>COCO</a:t>
            </a:r>
            <a:endParaRPr lang="en-US" altLang="zh-CN" sz="1800" dirty="0"/>
          </a:p>
          <a:p>
            <a:pPr lvl="1"/>
            <a:r>
              <a:rPr lang="zh-CN" altLang="en-US" sz="1800" dirty="0"/>
              <a:t>代码语言不限，方法不限，要求提交整个算法源代码，模型结果，算法分析等内容。</a:t>
            </a:r>
            <a:endParaRPr lang="en-US" altLang="zh-CN" sz="1800" dirty="0"/>
          </a:p>
          <a:p>
            <a:pPr lvl="1"/>
            <a:r>
              <a:rPr lang="zh-CN" altLang="en-US" sz="1800" dirty="0">
                <a:solidFill>
                  <a:srgbClr val="FF0000"/>
                </a:solidFill>
              </a:rPr>
              <a:t>加分项（</a:t>
            </a:r>
            <a:r>
              <a:rPr lang="en-US" altLang="zh-CN" sz="1800" dirty="0">
                <a:solidFill>
                  <a:srgbClr val="FF0000"/>
                </a:solidFill>
              </a:rPr>
              <a:t>5</a:t>
            </a:r>
            <a:r>
              <a:rPr lang="zh-CN" altLang="en-US" sz="1800" dirty="0">
                <a:solidFill>
                  <a:srgbClr val="FF0000"/>
                </a:solidFill>
              </a:rPr>
              <a:t>分）</a:t>
            </a:r>
            <a:r>
              <a:rPr lang="zh-CN" altLang="en-US" sz="1800" dirty="0"/>
              <a:t>：使用深度学习方法，代码环境名称以姓名缩写命名（例如吴晶晶的环境名：</a:t>
            </a:r>
            <a:r>
              <a:rPr lang="en-US" altLang="zh-CN" sz="1800" dirty="0"/>
              <a:t>wjj</a:t>
            </a:r>
            <a:r>
              <a:rPr lang="zh-CN" altLang="en-US" sz="1800" dirty="0"/>
              <a:t>），</a:t>
            </a:r>
            <a:r>
              <a:rPr lang="zh-CN" altLang="en-US" sz="1800" dirty="0">
                <a:solidFill>
                  <a:srgbClr val="FF0000"/>
                </a:solidFill>
              </a:rPr>
              <a:t>实验报告中介绍代码环境配置过程。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lvl="1"/>
            <a:endParaRPr lang="zh-CN" altLang="en-US" sz="1800" dirty="0"/>
          </a:p>
          <a:p>
            <a:endParaRPr lang="zh-CN" altLang="en-US" sz="2000" dirty="0"/>
          </a:p>
          <a:p>
            <a:pPr marL="36703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实验验收与提交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0654" y="1146840"/>
            <a:ext cx="11538801" cy="5589240"/>
          </a:xfrm>
        </p:spPr>
        <p:txBody>
          <a:bodyPr/>
          <a:lstStyle/>
          <a:p>
            <a:r>
              <a:rPr lang="en-US" altLang="zh-CN" sz="2400" dirty="0"/>
              <a:t>Git</a:t>
            </a:r>
            <a:r>
              <a:rPr lang="zh-CN" altLang="en-US" sz="2400" dirty="0"/>
              <a:t>工具：</a:t>
            </a:r>
            <a:r>
              <a:rPr lang="en-US" altLang="zh-CN" sz="2400" dirty="0"/>
              <a:t> Git</a:t>
            </a:r>
            <a:r>
              <a:rPr lang="zh-CN" altLang="en-US" sz="2400" dirty="0"/>
              <a:t>工具可以高效实现代码的版本管理。 </a:t>
            </a:r>
            <a:endParaRPr lang="en-US" altLang="zh-CN" sz="2400" dirty="0"/>
          </a:p>
          <a:p>
            <a:r>
              <a:rPr lang="en-US" altLang="zh-CN" sz="2400" dirty="0"/>
              <a:t>Git</a:t>
            </a:r>
            <a:r>
              <a:rPr lang="zh-CN" altLang="en-US" sz="2400" dirty="0"/>
              <a:t>工具教授课时： </a:t>
            </a:r>
            <a:r>
              <a:rPr lang="en-US" altLang="zh-CN" sz="2400" dirty="0"/>
              <a:t>1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实验验收：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需运行实验得到最终输出结果，验收老师随机提问实验原理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实验报告：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阐明实验目的、实验原理、实验方法、实验结果、实验体会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实验提交（提交方式二选一）：</a:t>
            </a:r>
            <a:endParaRPr lang="zh-CN" altLang="en-US" sz="2400" dirty="0"/>
          </a:p>
          <a:p>
            <a:pPr lvl="1"/>
            <a:r>
              <a:rPr lang="zh-CN" altLang="en-US" sz="1800" dirty="0"/>
              <a:t>邮箱提交：以“姓名</a:t>
            </a:r>
            <a:r>
              <a:rPr lang="en-US" altLang="zh-CN" sz="1800" dirty="0"/>
              <a:t>+</a:t>
            </a:r>
            <a:r>
              <a:rPr lang="zh-CN" altLang="en-US" sz="1800" dirty="0"/>
              <a:t>学号”的命名方式命名作业压缩文件，将作业发送至 </a:t>
            </a:r>
            <a:r>
              <a:rPr lang="en-US" altLang="zh-CN" sz="1800" dirty="0"/>
              <a:t>2022800098@hfut.edu.cn</a:t>
            </a:r>
            <a:endParaRPr lang="zh-CN" altLang="en-US" sz="1800" dirty="0"/>
          </a:p>
          <a:p>
            <a:pPr lvl="1"/>
            <a:r>
              <a:rPr lang="en-US" altLang="zh-CN" sz="1800" dirty="0"/>
              <a:t>Git</a:t>
            </a:r>
            <a:r>
              <a:rPr lang="zh-CN" altLang="en-US" sz="1800" dirty="0"/>
              <a:t>工具提交：</a:t>
            </a:r>
            <a:r>
              <a:rPr lang="zh-CN" altLang="en-US" sz="1800" dirty="0">
                <a:solidFill>
                  <a:srgbClr val="FF0000"/>
                </a:solidFill>
              </a:rPr>
              <a:t>加分项（</a:t>
            </a:r>
            <a:r>
              <a:rPr lang="en-US" altLang="zh-CN" sz="1800" dirty="0">
                <a:solidFill>
                  <a:srgbClr val="FF0000"/>
                </a:solidFill>
              </a:rPr>
              <a:t>10</a:t>
            </a:r>
            <a:r>
              <a:rPr lang="zh-CN" altLang="en-US" sz="1800" dirty="0">
                <a:solidFill>
                  <a:srgbClr val="FF0000"/>
                </a:solidFill>
              </a:rPr>
              <a:t>分） </a:t>
            </a:r>
            <a:r>
              <a:rPr lang="zh-CN" altLang="en-US" sz="1800" dirty="0"/>
              <a:t>，以“姓名</a:t>
            </a:r>
            <a:r>
              <a:rPr lang="en-US" altLang="zh-CN" sz="1800" dirty="0"/>
              <a:t>+</a:t>
            </a:r>
            <a:r>
              <a:rPr lang="zh-CN" altLang="en-US" sz="1800" dirty="0"/>
              <a:t>学号”的命名方式命名作业文件夹，使用</a:t>
            </a:r>
            <a:r>
              <a:rPr lang="en-US" altLang="zh-CN" sz="1800" dirty="0"/>
              <a:t>Git</a:t>
            </a:r>
            <a:r>
              <a:rPr lang="zh-CN" altLang="en-US" sz="1800" dirty="0"/>
              <a:t>工具将作业提交至</a:t>
            </a:r>
            <a:r>
              <a:rPr lang="en-US" altLang="zh-CN" sz="1800" dirty="0" err="1"/>
              <a:t>Gitee</a:t>
            </a:r>
            <a:r>
              <a:rPr lang="zh-CN" altLang="en-US" sz="1800" dirty="0"/>
              <a:t>，使用此方式提交作业的同学请加</a:t>
            </a:r>
            <a:r>
              <a:rPr lang="en-US" altLang="zh-CN" sz="1800" dirty="0"/>
              <a:t>QQ</a:t>
            </a:r>
            <a:r>
              <a:rPr lang="zh-CN" altLang="en-US" sz="1800" dirty="0"/>
              <a:t>：</a:t>
            </a:r>
            <a:r>
              <a:rPr lang="en-US" altLang="zh-CN" sz="1800" dirty="0"/>
              <a:t>454666966</a:t>
            </a:r>
            <a:r>
              <a:rPr lang="zh-CN" altLang="en-US" sz="1800" dirty="0"/>
              <a:t>获取提交网址，</a:t>
            </a:r>
            <a:r>
              <a:rPr lang="zh-CN" altLang="en-US" sz="1800" dirty="0">
                <a:solidFill>
                  <a:srgbClr val="FF0000"/>
                </a:solidFill>
              </a:rPr>
              <a:t>实验报告中需介绍提交步骤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367030" lvl="1" indent="0">
              <a:buNone/>
            </a:pPr>
            <a:endParaRPr lang="zh-CN" altLang="en-US" sz="1800" dirty="0"/>
          </a:p>
          <a:p>
            <a:pPr marL="367030" lvl="1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89EAC3-5AC7-4B69-B892-7D4B7EAD0053}" type="slidenum">
              <a:rPr lang="zh-CN" altLang="en-US" smtClean="0">
                <a:solidFill>
                  <a:srgbClr val="775F55"/>
                </a:solidFill>
              </a:rPr>
            </a:fld>
            <a:endParaRPr lang="en-US" altLang="zh-CN">
              <a:solidFill>
                <a:srgbClr val="775F55"/>
              </a:solidFill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04800" y="228600"/>
            <a:ext cx="8436864" cy="61264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2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Palatino Linotype" panose="02040502050505030304" pitchFamily="18" charset="0"/>
                <a:ea typeface="华文仿宋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Palatino Linotype" panose="02040502050505030304" pitchFamily="18" charset="0"/>
                <a:ea typeface="华文仿宋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Palatino Linotype" panose="02040502050505030304" pitchFamily="18" charset="0"/>
                <a:ea typeface="华文仿宋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Palatino Linotype" panose="02040502050505030304" pitchFamily="18" charset="0"/>
                <a:ea typeface="华文仿宋" panose="0201060004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/>
              </a:defRPr>
            </a:lvl9pPr>
          </a:lstStyle>
          <a:p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课程实验评分标准</a:t>
            </a:r>
            <a:r>
              <a:rPr lang="en-US" altLang="zh-CN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重要</a:t>
            </a:r>
            <a:endParaRPr lang="en-US" altLang="zh-CN" sz="32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782444" y="1496912"/>
          <a:ext cx="9061662" cy="483953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412286"/>
                <a:gridCol w="1266443"/>
                <a:gridCol w="5236524"/>
                <a:gridCol w="1435664"/>
                <a:gridCol w="710745"/>
              </a:tblGrid>
              <a:tr h="411680"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</a:rPr>
                        <a:t>评价内容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</a:rPr>
                        <a:t>评价依据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b="1" kern="100" dirty="0">
                          <a:effectLst/>
                        </a:rPr>
                        <a:t>权重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853"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实验验收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评价点</a:t>
                      </a:r>
                      <a:r>
                        <a:rPr lang="en-US" sz="1600" kern="100" dirty="0">
                          <a:effectLst/>
                        </a:rPr>
                        <a:t>E1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实验原理是否理解；代码是否规范，程序能否运行；实验结果是否正确；任务是否全部完成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600" b="1" kern="100" dirty="0">
                          <a:effectLst/>
                        </a:rPr>
                        <a:t>实验代码</a:t>
                      </a:r>
                      <a:endParaRPr lang="zh-CN" sz="1200" b="1" kern="100" dirty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600" b="1" kern="100" dirty="0">
                          <a:effectLst/>
                        </a:rPr>
                        <a:t>实验结果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</a:rPr>
                        <a:t>0.5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4063">
                <a:tc rowSpan="3"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实验报告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评价点</a:t>
                      </a:r>
                      <a:r>
                        <a:rPr lang="en-US" sz="1600" kern="100">
                          <a:effectLst/>
                        </a:rPr>
                        <a:t>E2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报告格式是否规范，语言使用是否规范，行文是否流畅，是否图文并茂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600" b="1" kern="100" dirty="0">
                          <a:effectLst/>
                        </a:rPr>
                        <a:t>实验报告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</a:rPr>
                        <a:t>0.1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29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评价点</a:t>
                      </a:r>
                      <a:r>
                        <a:rPr lang="en-US" sz="1600" kern="100" dirty="0">
                          <a:effectLst/>
                        </a:rPr>
                        <a:t>E3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实验数据记录是否完整，实验结果的分析、对比是否充分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600" b="1" kern="100" dirty="0">
                          <a:effectLst/>
                        </a:rPr>
                        <a:t>实验报告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>
                          <a:effectLst/>
                        </a:rPr>
                        <a:t>0.2</a:t>
                      </a:r>
                      <a:endParaRPr lang="zh-CN" sz="12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290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00" kern="100" dirty="0">
                          <a:effectLst/>
                        </a:rPr>
                        <a:t>评价点</a:t>
                      </a:r>
                      <a:r>
                        <a:rPr lang="en-US" sz="1600" kern="100" dirty="0">
                          <a:effectLst/>
                        </a:rPr>
                        <a:t>E4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实验体会是否正确，是否提出了自己独到见解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sz="1600" b="1" kern="100" dirty="0">
                          <a:effectLst/>
                        </a:rPr>
                        <a:t>实验报告</a:t>
                      </a:r>
                      <a:endParaRPr lang="zh-CN" sz="1200" b="1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600" kern="100" dirty="0">
                          <a:effectLst/>
                        </a:rPr>
                        <a:t>0.1</a:t>
                      </a:r>
                      <a:endParaRPr lang="zh-CN" sz="12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290">
                <a:tc>
                  <a:txBody>
                    <a:bodyPr/>
                    <a:lstStyle/>
                    <a:p>
                      <a:pPr algn="ctr"/>
                      <a:r>
                        <a:rPr kumimoji="0" lang="zh-CN" altLang="en-US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实验提交</a:t>
                      </a:r>
                      <a:endParaRPr kumimoji="0" lang="zh-CN" altLang="en-US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zh-CN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评价点</a:t>
                      </a:r>
                      <a:r>
                        <a:rPr kumimoji="0"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E5</a:t>
                      </a:r>
                      <a:endParaRPr kumimoji="0" lang="en-US" altLang="zh-CN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kumimoji="0" lang="zh-CN" altLang="en-US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zh-CN" altLang="en-US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是否使用</a:t>
                      </a:r>
                      <a:r>
                        <a:rPr kumimoji="0"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Git</a:t>
                      </a:r>
                      <a:r>
                        <a:rPr kumimoji="0" lang="zh-CN" altLang="en-US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工具提交</a:t>
                      </a:r>
                      <a:endParaRPr kumimoji="0" lang="zh-CN" altLang="en-US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ct val="150000"/>
                        </a:lnSpc>
                      </a:pPr>
                      <a:r>
                        <a:rPr kumimoji="0" lang="zh-CN" altLang="en-US" sz="16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提交方式</a:t>
                      </a:r>
                      <a:endParaRPr kumimoji="0" lang="zh-CN" altLang="en-US" sz="16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ct val="150000"/>
                        </a:lnSpc>
                      </a:pPr>
                      <a:r>
                        <a:rPr kumimoji="0" lang="en-US" altLang="zh-CN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endParaRPr kumimoji="0" lang="zh-CN" altLang="en-US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1545</Words>
  <Application>WPS 演示</Application>
  <PresentationFormat>宽屏</PresentationFormat>
  <Paragraphs>157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26" baseType="lpstr">
      <vt:lpstr>Arial</vt:lpstr>
      <vt:lpstr>宋体</vt:lpstr>
      <vt:lpstr>Wingdings</vt:lpstr>
      <vt:lpstr>Tw Cen MT</vt:lpstr>
      <vt:lpstr>Palatino Linotype</vt:lpstr>
      <vt:lpstr>华文仿宋</vt:lpstr>
      <vt:lpstr>Segoe Print</vt:lpstr>
      <vt:lpstr>Times New Roman</vt:lpstr>
      <vt:lpstr>微软雅黑</vt:lpstr>
      <vt:lpstr>Calibri</vt:lpstr>
      <vt:lpstr>黑体</vt:lpstr>
      <vt:lpstr>Cambria Math</vt:lpstr>
      <vt:lpstr>Arial Unicode MS</vt:lpstr>
      <vt:lpstr>等线</vt:lpstr>
      <vt:lpstr>等线 Light</vt:lpstr>
      <vt:lpstr>Trebuchet MS</vt:lpstr>
      <vt:lpstr>Office 主题​​</vt:lpstr>
      <vt:lpstr>Median</vt:lpstr>
      <vt:lpstr>1_Median</vt:lpstr>
      <vt:lpstr>PowerPoint 演示文稿</vt:lpstr>
      <vt:lpstr>课程实验一：图像滤波</vt:lpstr>
      <vt:lpstr>课程实验二：车道线检测</vt:lpstr>
      <vt:lpstr>课程实验三：学号识别</vt:lpstr>
      <vt:lpstr>课程实验四：校园共享单车检测</vt:lpstr>
      <vt:lpstr>实验验收与提交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Popularity bias in GCNs-based recommendation</dc:title>
  <dc:creator>Administrator</dc:creator>
  <cp:lastModifiedBy>张旭娟</cp:lastModifiedBy>
  <cp:revision>619</cp:revision>
  <dcterms:created xsi:type="dcterms:W3CDTF">1900-01-01T00:00:00Z</dcterms:created>
  <dcterms:modified xsi:type="dcterms:W3CDTF">2025-11-10T11:53:46Z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B660291A5CE9463CB01472D5A18DC5A6_12</vt:lpwstr>
  </property>
  <property fmtid="{D5CDD505-2E9C-101B-9397-08002B2CF9AE}" pid="3" name="KSOProductBuildVer">
    <vt:lpwstr>2052-12.1.0.23542</vt:lpwstr>
  </property>
</Properties>
</file>